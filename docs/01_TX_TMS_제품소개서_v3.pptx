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944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0080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492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7632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3838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8963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082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품 컨셉 소개서">
            <a:extLst>
              <a:ext uri="{FF2B5EF4-FFF2-40B4-BE49-F238E27FC236}">
                <a16:creationId xmlns="" xmlns:a16="http://schemas.microsoft.com/office/drawing/2014/main" id="{DB542053-A3FC-493D-B5C4-BA05D1168116}"/>
              </a:ext>
            </a:extLst>
          </p:cNvPr>
          <p:cNvSpPr>
            <a:spLocks noGrp="1"/>
          </p:cNvSpPr>
          <p:nvPr/>
        </p:nvSpPr>
        <p:spPr>
          <a:xfrm>
            <a:off x="628650" y="51435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CECFFA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CECFFA"/>
                </a:solidFill>
                <a:latin typeface="Pretendard"/>
                <a:ea typeface="Pretendard"/>
                <a:cs typeface="Pretendard"/>
              </a:rPr>
              <a:t>제품 개념 소개서</a:t>
            </a:r>
          </a:p>
        </p:txBody>
      </p:sp>
      <p:sp>
        <p:nvSpPr>
          <p:cNvPr id="2" name="TX TMS">
            <a:extLst>
              <a:ext uri="{FF2B5EF4-FFF2-40B4-BE49-F238E27FC236}">
                <a16:creationId xmlns="" xmlns:a16="http://schemas.microsoft.com/office/drawing/2014/main" id="{47F05C91-B742-4AF4-94F3-2C443A536563}"/>
              </a:ext>
            </a:extLst>
          </p:cNvPr>
          <p:cNvSpPr>
            <a:spLocks noGrp="1"/>
          </p:cNvSpPr>
          <p:nvPr/>
        </p:nvSpPr>
        <p:spPr>
          <a:xfrm>
            <a:off x="590550" y="1685925"/>
            <a:ext cx="106680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3" name="고객 콘텐츠 검수 협업 플랫폼">
            <a:extLst>
              <a:ext uri="{FF2B5EF4-FFF2-40B4-BE49-F238E27FC236}">
                <a16:creationId xmlns="" xmlns:a16="http://schemas.microsoft.com/office/drawing/2014/main" id="{9F83B510-B17E-4FFB-9DF0-81B8891CBE77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6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 콘텐츠 검수 협업 플랫폼</a:t>
            </a:r>
          </a:p>
        </p:txBody>
      </p:sp>
      <p:sp>
        <p:nvSpPr>
          <p:cNvPr id="4" name="콘텐츠 작성부터 검수, 선택적 승인, 완료본 관리까지&#10;하나의 흐">
            <a:extLst>
              <a:ext uri="{FF2B5EF4-FFF2-40B4-BE49-F238E27FC236}">
                <a16:creationId xmlns="" xmlns:a16="http://schemas.microsoft.com/office/drawing/2014/main" id="{A2631679-0060-458C-8E76-96FF85799460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103822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콘텐츠 작성부터 검수, 선택적 승인, 완료본 관리까지</a:t>
            </a:r>
          </a:p>
          <a:p>
            <a:pPr>
              <a:buNone/>
              <a:defRPr sz="232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하나의 흐름으로 연결합니다.</a:t>
            </a:r>
          </a:p>
        </p:txBody>
      </p:sp>
      <p:sp>
        <p:nvSpPr>
          <p:cNvPr id="5" name="알림톡 · 문자 · RCS · 자유입력형 콘텐츠">
            <a:extLst>
              <a:ext uri="{FF2B5EF4-FFF2-40B4-BE49-F238E27FC236}">
                <a16:creationId xmlns="" xmlns:a16="http://schemas.microsoft.com/office/drawing/2014/main" id="{18A5490B-D42E-4424-B82C-37AE5205A142}"/>
              </a:ext>
            </a:extLst>
          </p:cNvPr>
          <p:cNvSpPr>
            <a:spLocks noGrp="1"/>
          </p:cNvSpPr>
          <p:nvPr/>
        </p:nvSpPr>
        <p:spPr>
          <a:xfrm>
            <a:off x="666750" y="60293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CECFF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CECFFA"/>
                </a:solidFill>
                <a:latin typeface="Pretendard"/>
                <a:ea typeface="Pretendard"/>
                <a:cs typeface="Pretendard"/>
              </a:rPr>
              <a:t>알림톡 · 문자 · RCS · 자유입력형 콘텐츠</a:t>
            </a:r>
          </a:p>
        </p:txBody>
      </p:sp>
    </p:spTree>
    <p:extLst>
      <p:ext uri="{BB962C8B-B14F-4D97-AF65-F5344CB8AC3E}">
        <p14:creationId xmlns:p14="http://schemas.microsoft.com/office/powerpoint/2010/main" val="118952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1  제품 배경">
            <a:extLst>
              <a:ext uri="{FF2B5EF4-FFF2-40B4-BE49-F238E27FC236}">
                <a16:creationId xmlns="" xmlns:a16="http://schemas.microsoft.com/office/drawing/2014/main" id="{8B7474B3-F2FA-435D-8D96-5031399F76D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01  제품 배경</a:t>
            </a:r>
          </a:p>
        </p:txBody>
      </p:sp>
      <p:sp>
        <p:nvSpPr>
          <p:cNvPr id="2" name="기획 배경과 제품 목적">
            <a:extLst>
              <a:ext uri="{FF2B5EF4-FFF2-40B4-BE49-F238E27FC236}">
                <a16:creationId xmlns="" xmlns:a16="http://schemas.microsoft.com/office/drawing/2014/main" id="{DBA05EF7-D3F1-499B-80E1-71C0EF84E13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기획 배경과 제품 목적</a:t>
            </a:r>
          </a:p>
        </p:txBody>
      </p:sp>
      <p:sp>
        <p:nvSpPr>
          <p:cNvPr id="3" name="TX TMS">
            <a:extLst>
              <a:ext uri="{FF2B5EF4-FFF2-40B4-BE49-F238E27FC236}">
                <a16:creationId xmlns="" xmlns:a16="http://schemas.microsoft.com/office/drawing/2014/main" id="{77E13F06-5948-4F79-8C5C-8D091E7DC4D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4" name="02">
            <a:extLst>
              <a:ext uri="{FF2B5EF4-FFF2-40B4-BE49-F238E27FC236}">
                <a16:creationId xmlns="" xmlns:a16="http://schemas.microsoft.com/office/drawing/2014/main" id="{392D84CF-203F-4BCF-B8D7-819423061A1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콘텐츠 검수에 필요한 정보와 책임을&#10;업무 시작부터 완료까지 연결">
            <a:extLst>
              <a:ext uri="{FF2B5EF4-FFF2-40B4-BE49-F238E27FC236}">
                <a16:creationId xmlns="" xmlns:a16="http://schemas.microsoft.com/office/drawing/2014/main" id="{FB3F2FFE-D25A-464B-B14F-FE80B363847D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06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콘텐츠 검수에 필요한 정보와 책임을</a:t>
            </a:r>
          </a:p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업무 시작부터 완료까지 연결</a:t>
            </a:r>
          </a:p>
        </p:txBody>
      </p:sp>
      <p:sp>
        <p:nvSpPr>
          <p:cNvPr id="6" name="요청 맥락 공유">
            <a:extLst>
              <a:ext uri="{FF2B5EF4-FFF2-40B4-BE49-F238E27FC236}">
                <a16:creationId xmlns="" xmlns:a16="http://schemas.microsoft.com/office/drawing/2014/main" id="{69AEE3F6-1D42-48C8-823A-9FFB4EFD6821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요청 배경과 목적 공유</a:t>
            </a:r>
          </a:p>
        </p:txBody>
      </p:sp>
      <p:sp>
        <p:nvSpPr>
          <p:cNvPr id="7" name="목적·대상·배경·납기를&#10;공유해 요청 의도를&#10;명확히 전달합니다.">
            <a:extLst>
              <a:ext uri="{FF2B5EF4-FFF2-40B4-BE49-F238E27FC236}">
                <a16:creationId xmlns="" xmlns:a16="http://schemas.microsoft.com/office/drawing/2014/main" id="{3F01ED90-3593-4D0B-99D3-6B91CD70A6E9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3476625" cy="1343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목적·대상·배경·납기를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공유해 요청 의도를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명확히 전달합니다.</a:t>
            </a:r>
          </a:p>
        </p:txBody>
      </p:sp>
      <p:sp>
        <p:nvSpPr>
          <p:cNvPr id="8" name="검수 과정 관리">
            <a:extLst>
              <a:ext uri="{FF2B5EF4-FFF2-40B4-BE49-F238E27FC236}">
                <a16:creationId xmlns="" xmlns:a16="http://schemas.microsoft.com/office/drawing/2014/main" id="{66DF43A7-854F-4D70-8130-62458C9BA8C1}"/>
              </a:ext>
            </a:extLst>
          </p:cNvPr>
          <p:cNvSpPr>
            <a:spLocks noGrp="1"/>
          </p:cNvSpPr>
          <p:nvPr/>
        </p:nvSpPr>
        <p:spPr>
          <a:xfrm>
            <a:off x="4352925" y="3819525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검수 과정 관리</a:t>
            </a:r>
          </a:p>
        </p:txBody>
      </p:sp>
      <p:sp>
        <p:nvSpPr>
          <p:cNvPr id="9" name="담당자·진행 상태·답변을&#10;공유해 업무 누락과&#10;불필요한 재확인을 ">
            <a:extLst>
              <a:ext uri="{FF2B5EF4-FFF2-40B4-BE49-F238E27FC236}">
                <a16:creationId xmlns="" xmlns:a16="http://schemas.microsoft.com/office/drawing/2014/main" id="{D4783FAB-CCA6-4360-BCC1-80E2C0E0DDBD}"/>
              </a:ext>
            </a:extLst>
          </p:cNvPr>
          <p:cNvSpPr>
            <a:spLocks noGrp="1"/>
          </p:cNvSpPr>
          <p:nvPr/>
        </p:nvSpPr>
        <p:spPr>
          <a:xfrm>
            <a:off x="4352925" y="4562475"/>
            <a:ext cx="3476625" cy="1343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담당자·진행 상태·답변을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공유해 업무 누락과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불필요한 재확인을 줄입니다.</a:t>
            </a:r>
          </a:p>
        </p:txBody>
      </p:sp>
      <p:sp>
        <p:nvSpPr>
          <p:cNvPr id="10" name="완료 결과 축적">
            <a:extLst>
              <a:ext uri="{FF2B5EF4-FFF2-40B4-BE49-F238E27FC236}">
                <a16:creationId xmlns="" xmlns:a16="http://schemas.microsoft.com/office/drawing/2014/main" id="{CB742BA4-0650-4C0D-A318-86B20D2BB31B}"/>
              </a:ext>
            </a:extLst>
          </p:cNvPr>
          <p:cNvSpPr>
            <a:spLocks noGrp="1"/>
          </p:cNvSpPr>
          <p:nvPr/>
        </p:nvSpPr>
        <p:spPr>
          <a:xfrm>
            <a:off x="8096250" y="3819525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완료 결과 보관과 활용</a:t>
            </a:r>
          </a:p>
        </p:txBody>
      </p:sp>
      <p:sp>
        <p:nvSpPr>
          <p:cNvPr id="11" name="최종본과 변경·승인 이력을&#10;연결해 결과 확인과&#10;후속 작업에 활용">
            <a:extLst>
              <a:ext uri="{FF2B5EF4-FFF2-40B4-BE49-F238E27FC236}">
                <a16:creationId xmlns="" xmlns:a16="http://schemas.microsoft.com/office/drawing/2014/main" id="{1A3F7394-C6C8-4CB1-B107-1B99B05E374B}"/>
              </a:ext>
            </a:extLst>
          </p:cNvPr>
          <p:cNvSpPr>
            <a:spLocks noGrp="1"/>
          </p:cNvSpPr>
          <p:nvPr/>
        </p:nvSpPr>
        <p:spPr>
          <a:xfrm>
            <a:off x="8096250" y="4562475"/>
            <a:ext cx="3476625" cy="1343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최종본과 변경·승인 이력을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연결해 결과 확인과</a:t>
            </a:r>
          </a:p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후속 작업에 활용합니다.</a:t>
            </a:r>
          </a:p>
        </p:txBody>
      </p:sp>
    </p:spTree>
    <p:extLst>
      <p:ext uri="{BB962C8B-B14F-4D97-AF65-F5344CB8AC3E}">
        <p14:creationId xmlns:p14="http://schemas.microsoft.com/office/powerpoint/2010/main" val="11011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사용 대상">
            <a:extLst>
              <a:ext uri="{FF2B5EF4-FFF2-40B4-BE49-F238E27FC236}">
                <a16:creationId xmlns="" xmlns:a16="http://schemas.microsoft.com/office/drawing/2014/main" id="{BF015D3A-2BE9-4925-ABE9-E0D42F2FC32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02  사용 대상</a:t>
            </a:r>
          </a:p>
        </p:txBody>
      </p:sp>
      <p:sp>
        <p:nvSpPr>
          <p:cNvPr id="2" name="타겟 고객과 주요 사용자">
            <a:extLst>
              <a:ext uri="{FF2B5EF4-FFF2-40B4-BE49-F238E27FC236}">
                <a16:creationId xmlns="" xmlns:a16="http://schemas.microsoft.com/office/drawing/2014/main" id="{2B7EA32D-54DF-4508-A922-3C5A756DFF7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대상 고객과 주요 사용자</a:t>
            </a:r>
          </a:p>
        </p:txBody>
      </p:sp>
      <p:sp>
        <p:nvSpPr>
          <p:cNvPr id="3" name="TX TMS">
            <a:extLst>
              <a:ext uri="{FF2B5EF4-FFF2-40B4-BE49-F238E27FC236}">
                <a16:creationId xmlns="" xmlns:a16="http://schemas.microsoft.com/office/drawing/2014/main" id="{689E71FE-ECE8-4277-9DCE-2C255516CBB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4" name="03">
            <a:extLst>
              <a:ext uri="{FF2B5EF4-FFF2-40B4-BE49-F238E27FC236}">
                <a16:creationId xmlns="" xmlns:a16="http://schemas.microsoft.com/office/drawing/2014/main" id="{519F0135-2C17-407D-B20F-ED0F06AE7A3A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고객 안내·마케팅 콘텐츠를 반복 제작하고&#10;여러 담당자가 검수하는">
            <a:extLst>
              <a:ext uri="{FF2B5EF4-FFF2-40B4-BE49-F238E27FC236}">
                <a16:creationId xmlns="" xmlns:a16="http://schemas.microsoft.com/office/drawing/2014/main" id="{B4987A38-E25B-415A-8A07-84A5E9AD24E5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109537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925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고객 안내·마케팅 콘텐츠를 반복 제작하고</a:t>
            </a:r>
          </a:p>
          <a:p>
            <a:pPr>
              <a:buNone/>
              <a:defRPr sz="2925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여러 담당자가 검수하는 조직</a:t>
            </a:r>
          </a:p>
        </p:txBody>
      </p:sp>
      <p:sp>
        <p:nvSpPr>
          <p:cNvPr id="6" name="CRM·마케팅·고객 커뮤니케이션 부서와 콘텐츠 검수 운영팀">
            <a:extLst>
              <a:ext uri="{FF2B5EF4-FFF2-40B4-BE49-F238E27FC236}">
                <a16:creationId xmlns="" xmlns:a16="http://schemas.microsoft.com/office/drawing/2014/main" id="{CDD28382-8100-4973-89B7-0B3F89829AE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고객 관계 관리(CRM)·마케팅·고객 소통 부서와 콘텐츠 검수 운영팀</a:t>
            </a:r>
          </a:p>
        </p:txBody>
      </p:sp>
      <p:graphicFrame>
        <p:nvGraphicFramePr>
          <p:cNvPr id="16" name="표 15"/>
          <p:cNvGraphicFramePr/>
          <p:nvPr/>
        </p:nvGraphicFramePr>
        <p:xfrm>
          <a:off x="609600" y="3943350"/>
          <a:ext cx="10972800" cy="2171700"/>
        </p:xfrm>
        <a:graphic>
          <a:graphicData uri="http://schemas.openxmlformats.org/drawingml/2006/table">
            <a:tbl>
              <a:tblPr/>
              <a:tblGrid>
                <a:gridCol w="4524375"/>
                <a:gridCol w="6448425"/>
              </a:tblGrid>
              <a:tr h="43434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</a:t>
                      </a:r>
                    </a:p>
                  </a:txBody>
                  <a:tcPr anchor="ctr">
                    <a:solidFill>
                      <a:srgbClr val="1721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업무</a:t>
                      </a:r>
                    </a:p>
                  </a:txBody>
                  <a:tcPr anchor="ctr">
                    <a:solidFill>
                      <a:srgbClr val="17213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작성·제출, 확인 요청에 답변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검수자·대표 검수자</a:t>
                      </a:r>
                    </a:p>
                  </a:txBody>
                  <a:tcPr anchor="ctr">
                    <a:solidFill>
                      <a:srgbClr val="EB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검수 수행, 담당자 배정과 진행 관리</a:t>
                      </a:r>
                    </a:p>
                  </a:txBody>
                  <a:tcPr anchor="ctr">
                    <a:solidFill>
                      <a:srgbClr val="EBEA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승인자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승인 단계 사용 시 최종 승인 또는 수정 요청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고객사 관리자·솔루션 운영 담당자</a:t>
                      </a:r>
                    </a:p>
                  </a:txBody>
                  <a:tcPr anchor="ctr">
                    <a:solidFill>
                      <a:srgbClr val="EB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13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고객사 조직·권한 관리 / 솔루션 제공사 초기 설정·기준 운영</a:t>
                      </a:r>
                    </a:p>
                  </a:txBody>
                  <a:tcPr anchor="ctr">
                    <a:solidFill>
                      <a:srgbClr val="EBEA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117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03  이용 흐름">
            <a:extLst>
              <a:ext uri="{FF2B5EF4-FFF2-40B4-BE49-F238E27FC236}">
                <a16:creationId xmlns="" xmlns:a16="http://schemas.microsoft.com/office/drawing/2014/main" id="{7A100F45-17EB-4033-9BF2-56553AF1CFC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03  이용 흐름</a:t>
            </a:r>
          </a:p>
        </p:txBody>
      </p:sp>
      <p:sp>
        <p:nvSpPr>
          <p:cNvPr id="2" name="제품의 핵심 업무 흐름">
            <a:extLst>
              <a:ext uri="{FF2B5EF4-FFF2-40B4-BE49-F238E27FC236}">
                <a16:creationId xmlns="" xmlns:a16="http://schemas.microsoft.com/office/drawing/2014/main" id="{EC3003E5-C728-4F01-8DF4-72A131C99F7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제품의 핵심 업무 흐름</a:t>
            </a:r>
          </a:p>
        </p:txBody>
      </p:sp>
      <p:sp>
        <p:nvSpPr>
          <p:cNvPr id="3" name="TX TMS">
            <a:extLst>
              <a:ext uri="{FF2B5EF4-FFF2-40B4-BE49-F238E27FC236}">
                <a16:creationId xmlns="" xmlns:a16="http://schemas.microsoft.com/office/drawing/2014/main" id="{F25E0085-5595-4292-84EA-B7ACB200592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4" name="04">
            <a:extLst>
              <a:ext uri="{FF2B5EF4-FFF2-40B4-BE49-F238E27FC236}">
                <a16:creationId xmlns="" xmlns:a16="http://schemas.microsoft.com/office/drawing/2014/main" id="{9B622E55-F328-4DA6-8D44-76A23C835CF1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01">
            <a:extLst>
              <a:ext uri="{FF2B5EF4-FFF2-40B4-BE49-F238E27FC236}">
                <a16:creationId xmlns="" xmlns:a16="http://schemas.microsoft.com/office/drawing/2014/main" id="{96A2811F-AC6C-46B3-BD8F-B5483ABEFCC7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2428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작성·제출">
            <a:extLst>
              <a:ext uri="{FF2B5EF4-FFF2-40B4-BE49-F238E27FC236}">
                <a16:creationId xmlns="" xmlns:a16="http://schemas.microsoft.com/office/drawing/2014/main" id="{66A9F6FF-6B67-4723-A293-319F88781CE5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2571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작성·제출</a:t>
            </a:r>
          </a:p>
        </p:txBody>
      </p:sp>
      <p:sp>
        <p:nvSpPr>
          <p:cNvPr id="7" name="목적과 납기를 입력하고&#10;검수할 콘텐츠를 등록">
            <a:extLst>
              <a:ext uri="{FF2B5EF4-FFF2-40B4-BE49-F238E27FC236}">
                <a16:creationId xmlns="" xmlns:a16="http://schemas.microsoft.com/office/drawing/2014/main" id="{53AEC75D-CECD-40CF-A66E-7A38B183F983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6003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목적과 납기를 입력하고</a:t>
            </a:r>
          </a:p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검수할 콘텐츠를 등록</a:t>
            </a:r>
          </a:p>
        </p:txBody>
      </p:sp>
      <p:sp>
        <p:nvSpPr>
          <p:cNvPr id="8" name="02">
            <a:extLst>
              <a:ext uri="{FF2B5EF4-FFF2-40B4-BE49-F238E27FC236}">
                <a16:creationId xmlns="" xmlns:a16="http://schemas.microsoft.com/office/drawing/2014/main" id="{B21DC015-B24B-4B5F-932C-9D806E50FCC1}"/>
              </a:ext>
            </a:extLst>
          </p:cNvPr>
          <p:cNvSpPr>
            <a:spLocks noGrp="1"/>
          </p:cNvSpPr>
          <p:nvPr/>
        </p:nvSpPr>
        <p:spPr>
          <a:xfrm>
            <a:off x="3400425" y="2085975"/>
            <a:ext cx="2428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배정·검수">
            <a:extLst>
              <a:ext uri="{FF2B5EF4-FFF2-40B4-BE49-F238E27FC236}">
                <a16:creationId xmlns="" xmlns:a16="http://schemas.microsoft.com/office/drawing/2014/main" id="{F3199F58-D7FD-4B7F-86D0-3CF3C1C4CFE9}"/>
              </a:ext>
            </a:extLst>
          </p:cNvPr>
          <p:cNvSpPr>
            <a:spLocks noGrp="1"/>
          </p:cNvSpPr>
          <p:nvPr/>
        </p:nvSpPr>
        <p:spPr>
          <a:xfrm>
            <a:off x="3400425" y="3124200"/>
            <a:ext cx="2571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배정·검수</a:t>
            </a:r>
          </a:p>
        </p:txBody>
      </p:sp>
      <p:sp>
        <p:nvSpPr>
          <p:cNvPr id="10" name="검수자 배정 후&#10;문안 검토와 확인 답변">
            <a:extLst>
              <a:ext uri="{FF2B5EF4-FFF2-40B4-BE49-F238E27FC236}">
                <a16:creationId xmlns="" xmlns:a16="http://schemas.microsoft.com/office/drawing/2014/main" id="{B94BD248-E6B0-4B86-8668-500209A10BFB}"/>
              </a:ext>
            </a:extLst>
          </p:cNvPr>
          <p:cNvSpPr>
            <a:spLocks noGrp="1"/>
          </p:cNvSpPr>
          <p:nvPr/>
        </p:nvSpPr>
        <p:spPr>
          <a:xfrm>
            <a:off x="3400425" y="3810000"/>
            <a:ext cx="26003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검수자를 배정한 뒤</a:t>
            </a:r>
          </a:p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문안 검토와 확인 답변</a:t>
            </a:r>
          </a:p>
        </p:txBody>
      </p:sp>
      <p:sp>
        <p:nvSpPr>
          <p:cNvPr id="11" name="03">
            <a:extLst>
              <a:ext uri="{FF2B5EF4-FFF2-40B4-BE49-F238E27FC236}">
                <a16:creationId xmlns="" xmlns:a16="http://schemas.microsoft.com/office/drawing/2014/main" id="{B6457145-FCD0-47A9-BC43-FD726B992C86}"/>
              </a:ext>
            </a:extLst>
          </p:cNvPr>
          <p:cNvSpPr>
            <a:spLocks noGrp="1"/>
          </p:cNvSpPr>
          <p:nvPr/>
        </p:nvSpPr>
        <p:spPr>
          <a:xfrm>
            <a:off x="6191250" y="2085975"/>
            <a:ext cx="2428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완료·승인">
            <a:extLst>
              <a:ext uri="{FF2B5EF4-FFF2-40B4-BE49-F238E27FC236}">
                <a16:creationId xmlns="" xmlns:a16="http://schemas.microsoft.com/office/drawing/2014/main" id="{2262E746-9528-480D-AD4A-20DE06827B44}"/>
              </a:ext>
            </a:extLst>
          </p:cNvPr>
          <p:cNvSpPr>
            <a:spLocks noGrp="1"/>
          </p:cNvSpPr>
          <p:nvPr/>
        </p:nvSpPr>
        <p:spPr>
          <a:xfrm>
            <a:off x="6191250" y="3124200"/>
            <a:ext cx="2571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완료·승인</a:t>
            </a:r>
          </a:p>
        </p:txBody>
      </p:sp>
      <p:sp>
        <p:nvSpPr>
          <p:cNvPr id="13" name="주담당 검수 완료 후&#10;필요 시 승인 진행">
            <a:extLst>
              <a:ext uri="{FF2B5EF4-FFF2-40B4-BE49-F238E27FC236}">
                <a16:creationId xmlns="" xmlns:a16="http://schemas.microsoft.com/office/drawing/2014/main" id="{FCCFAA63-0C24-457E-A284-EB34D50F7D9A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6003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주담당 검수 완료 후</a:t>
            </a:r>
          </a:p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필요 시 승인 진행</a:t>
            </a:r>
          </a:p>
        </p:txBody>
      </p:sp>
      <p:sp>
        <p:nvSpPr>
          <p:cNvPr id="14" name="04">
            <a:extLst>
              <a:ext uri="{FF2B5EF4-FFF2-40B4-BE49-F238E27FC236}">
                <a16:creationId xmlns="" xmlns:a16="http://schemas.microsoft.com/office/drawing/2014/main" id="{5CF7A543-E4E3-4540-91EE-18DF94AB56EB}"/>
              </a:ext>
            </a:extLst>
          </p:cNvPr>
          <p:cNvSpPr>
            <a:spLocks noGrp="1"/>
          </p:cNvSpPr>
          <p:nvPr/>
        </p:nvSpPr>
        <p:spPr>
          <a:xfrm>
            <a:off x="8982075" y="2085975"/>
            <a:ext cx="24288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472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5" name="보관·활용">
            <a:extLst>
              <a:ext uri="{FF2B5EF4-FFF2-40B4-BE49-F238E27FC236}">
                <a16:creationId xmlns="" xmlns:a16="http://schemas.microsoft.com/office/drawing/2014/main" id="{3488EAA3-7B35-4F96-B4CB-5C5F6B8A36B8}"/>
              </a:ext>
            </a:extLst>
          </p:cNvPr>
          <p:cNvSpPr>
            <a:spLocks noGrp="1"/>
          </p:cNvSpPr>
          <p:nvPr/>
        </p:nvSpPr>
        <p:spPr>
          <a:xfrm>
            <a:off x="8982075" y="3124200"/>
            <a:ext cx="2571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보관·활용</a:t>
            </a:r>
          </a:p>
        </p:txBody>
      </p:sp>
      <p:sp>
        <p:nvSpPr>
          <p:cNvPr id="16" name="완료본·이력 검색,&#10;반출과 후속 요청 작성">
            <a:extLst>
              <a:ext uri="{FF2B5EF4-FFF2-40B4-BE49-F238E27FC236}">
                <a16:creationId xmlns="" xmlns:a16="http://schemas.microsoft.com/office/drawing/2014/main" id="{8C43B175-72E4-4104-AD94-6ED6E0ED4D55}"/>
              </a:ext>
            </a:extLst>
          </p:cNvPr>
          <p:cNvSpPr>
            <a:spLocks noGrp="1"/>
          </p:cNvSpPr>
          <p:nvPr/>
        </p:nvSpPr>
        <p:spPr>
          <a:xfrm>
            <a:off x="8982075" y="3810000"/>
            <a:ext cx="26003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완료본·이력 검색,</a:t>
            </a:r>
          </a:p>
          <a:p>
            <a:pPr>
              <a:buNone/>
              <a:def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내보내기와 후속 요청 작성</a:t>
            </a:r>
          </a:p>
        </p:txBody>
      </p:sp>
      <p:sp>
        <p:nvSpPr>
          <p:cNvPr id="17" name="승인 단계는 고객사 도입 시 선택하며, 미사용 고객사는 검수 완">
            <a:extLst>
              <a:ext uri="{FF2B5EF4-FFF2-40B4-BE49-F238E27FC236}">
                <a16:creationId xmlns="" xmlns:a16="http://schemas.microsoft.com/office/drawing/2014/main" id="{F901CE92-A395-471E-AB3A-34FFB4BAD065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09347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승인 단계는 고객사 도입 시 선택하며, 미사용 고객사는 검수 완료가 최종 완료입니다.</a:t>
            </a:r>
          </a:p>
        </p:txBody>
      </p:sp>
    </p:spTree>
    <p:extLst>
      <p:ext uri="{BB962C8B-B14F-4D97-AF65-F5344CB8AC3E}">
        <p14:creationId xmlns:p14="http://schemas.microsoft.com/office/powerpoint/2010/main" val="755645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04  핵심 기능">
            <a:extLst>
              <a:ext uri="{FF2B5EF4-FFF2-40B4-BE49-F238E27FC236}">
                <a16:creationId xmlns="" xmlns:a16="http://schemas.microsoft.com/office/drawing/2014/main" id="{6F9BC4BA-3B89-45EE-9B6A-771164B0AEC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04  핵심 기능</a:t>
            </a:r>
          </a:p>
        </p:txBody>
      </p:sp>
      <p:sp>
        <p:nvSpPr>
          <p:cNvPr id="2" name="구현되어야 할 주요 기능">
            <a:extLst>
              <a:ext uri="{FF2B5EF4-FFF2-40B4-BE49-F238E27FC236}">
                <a16:creationId xmlns="" xmlns:a16="http://schemas.microsoft.com/office/drawing/2014/main" id="{995DEF59-B258-4831-B8AE-704ACACC3FC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개발 대상 주요 기능</a:t>
            </a:r>
          </a:p>
        </p:txBody>
      </p:sp>
      <p:sp>
        <p:nvSpPr>
          <p:cNvPr id="3" name="TX TMS">
            <a:extLst>
              <a:ext uri="{FF2B5EF4-FFF2-40B4-BE49-F238E27FC236}">
                <a16:creationId xmlns="" xmlns:a16="http://schemas.microsoft.com/office/drawing/2014/main" id="{1E6F0726-7738-4949-86E5-CC4C5ADAEAC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4" name="05">
            <a:extLst>
              <a:ext uri="{FF2B5EF4-FFF2-40B4-BE49-F238E27FC236}">
                <a16:creationId xmlns="" xmlns:a16="http://schemas.microsoft.com/office/drawing/2014/main" id="{62F5A7B8-354C-45B7-AFE1-2ECBA1480740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596273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콘텐츠 작성">
            <a:extLst>
              <a:ext uri="{FF2B5EF4-FFF2-40B4-BE49-F238E27FC236}">
                <a16:creationId xmlns="" xmlns:a16="http://schemas.microsoft.com/office/drawing/2014/main" id="{0077E268-BC64-4CD1-90E9-23DCF71D7A0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콘텐츠 작성</a:t>
            </a:r>
          </a:p>
        </p:txBody>
      </p:sp>
      <p:sp>
        <p:nvSpPr>
          <p:cNvPr id="6" name="유형별 입력·목업, 자동 저장, 변수 재사용, 알림톡·문자 XL">
            <a:extLst>
              <a:ext uri="{FF2B5EF4-FFF2-40B4-BE49-F238E27FC236}">
                <a16:creationId xmlns="" xmlns:a16="http://schemas.microsoft.com/office/drawing/2014/main" id="{A92FE9F6-4E87-4706-AD9A-1215D95D3D43}"/>
              </a:ext>
            </a:extLst>
          </p:cNvPr>
          <p:cNvSpPr>
            <a:spLocks noGrp="1"/>
          </p:cNvSpPr>
          <p:nvPr/>
        </p:nvSpPr>
        <p:spPr>
          <a:xfrm>
            <a:off x="3429000" y="1971675"/>
            <a:ext cx="8143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유형별 입력·미리보기(목업), 자동 저장, 변수 재사용, 알림톡·문자 XLSX 대량 등록</a:t>
            </a:r>
          </a:p>
        </p:txBody>
      </p:sp>
      <p:sp>
        <p:nvSpPr>
          <p:cNvPr id="7" name="검수·교정">
            <a:extLst>
              <a:ext uri="{FF2B5EF4-FFF2-40B4-BE49-F238E27FC236}">
                <a16:creationId xmlns="" xmlns:a16="http://schemas.microsoft.com/office/drawing/2014/main" id="{136BDC4C-573A-4DB3-89FE-4AA9409D9B56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검수·교정</a:t>
            </a:r>
          </a:p>
        </p:txBody>
      </p:sp>
      <p:sp>
        <p:nvSpPr>
          <p:cNvPr id="8" name="복수 검수자와 주담당 지정, 확인 요청·답변, 규칙 기반 텍스트">
            <a:extLst>
              <a:ext uri="{FF2B5EF4-FFF2-40B4-BE49-F238E27FC236}">
                <a16:creationId xmlns="" xmlns:a16="http://schemas.microsoft.com/office/drawing/2014/main" id="{B0D0FA7B-EDAC-4AFC-9F56-18F73E3EDD9A}"/>
              </a:ext>
            </a:extLst>
          </p:cNvPr>
          <p:cNvSpPr>
            <a:spLocks noGrp="1"/>
          </p:cNvSpPr>
          <p:nvPr/>
        </p:nvSpPr>
        <p:spPr>
          <a:xfrm>
            <a:off x="3429000" y="2809875"/>
            <a:ext cx="8143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복수 검수자와 주담당 지정, 확인 요청·답변, 규칙 기반 텍스트 교정</a:t>
            </a:r>
          </a:p>
        </p:txBody>
      </p:sp>
      <p:sp>
        <p:nvSpPr>
          <p:cNvPr id="9" name="승인·버전 관리">
            <a:extLst>
              <a:ext uri="{FF2B5EF4-FFF2-40B4-BE49-F238E27FC236}">
                <a16:creationId xmlns="" xmlns:a16="http://schemas.microsoft.com/office/drawing/2014/main" id="{72308DE2-303B-4CCF-99B9-0EAFF9B34C4D}"/>
              </a:ext>
            </a:extLst>
          </p:cNvPr>
          <p:cNvSpPr>
            <a:spLocks noGrp="1"/>
          </p:cNvSpPr>
          <p:nvPr/>
        </p:nvSpPr>
        <p:spPr>
          <a:xfrm>
            <a:off x="609600" y="36290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승인·버전 관리</a:t>
            </a:r>
          </a:p>
        </p:txBody>
      </p:sp>
      <p:sp>
        <p:nvSpPr>
          <p:cNvPr id="10" name="선택적 승인, 수정 요청과 재검수, 편집 충돌 방지, 완료본 확">
            <a:extLst>
              <a:ext uri="{FF2B5EF4-FFF2-40B4-BE49-F238E27FC236}">
                <a16:creationId xmlns="" xmlns:a16="http://schemas.microsoft.com/office/drawing/2014/main" id="{368E1397-56F2-4795-A30B-57D1FD7875DD}"/>
              </a:ext>
            </a:extLst>
          </p:cNvPr>
          <p:cNvSpPr>
            <a:spLocks noGrp="1"/>
          </p:cNvSpPr>
          <p:nvPr/>
        </p:nvSpPr>
        <p:spPr>
          <a:xfrm>
            <a:off x="3429000" y="3648075"/>
            <a:ext cx="8143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선택적 승인, 수정 요청과 재검수, 편집 충돌 방지, 완료본 확정</a:t>
            </a:r>
          </a:p>
        </p:txBody>
      </p:sp>
      <p:sp>
        <p:nvSpPr>
          <p:cNvPr id="11" name="검색·재사용">
            <a:extLst>
              <a:ext uri="{FF2B5EF4-FFF2-40B4-BE49-F238E27FC236}">
                <a16:creationId xmlns="" xmlns:a16="http://schemas.microsoft.com/office/drawing/2014/main" id="{0F35D9AC-0001-4734-9C2B-F5D1CE2046D7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검색·재사용</a:t>
            </a:r>
          </a:p>
        </p:txBody>
      </p:sp>
      <p:sp>
        <p:nvSpPr>
          <p:cNvPr id="12" name="요청·콘텐츠 통합 이력, 완료본 검색·다운로드, 원본과 연결된 ">
            <a:extLst>
              <a:ext uri="{FF2B5EF4-FFF2-40B4-BE49-F238E27FC236}">
                <a16:creationId xmlns="" xmlns:a16="http://schemas.microsoft.com/office/drawing/2014/main" id="{146E5DA2-7A43-4A77-B061-3FF15A8B6F6F}"/>
              </a:ext>
            </a:extLst>
          </p:cNvPr>
          <p:cNvSpPr>
            <a:spLocks noGrp="1"/>
          </p:cNvSpPr>
          <p:nvPr/>
        </p:nvSpPr>
        <p:spPr>
          <a:xfrm>
            <a:off x="3429000" y="4486275"/>
            <a:ext cx="8143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요청·콘텐츠 통합 이력, 완료본 검색·다운로드, 원본과 연결된 후속 요청</a:t>
            </a:r>
          </a:p>
        </p:txBody>
      </p:sp>
      <p:sp>
        <p:nvSpPr>
          <p:cNvPr id="13" name="업무·운영 관리">
            <a:extLst>
              <a:ext uri="{FF2B5EF4-FFF2-40B4-BE49-F238E27FC236}">
                <a16:creationId xmlns="" xmlns:a16="http://schemas.microsoft.com/office/drawing/2014/main" id="{4BC316D4-0316-4AB6-BC5B-491383251758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2571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4447C5"/>
                </a:solidFill>
                <a:latin typeface="Pretendard"/>
                <a:ea typeface="Pretendard"/>
                <a:cs typeface="Pretendard"/>
              </a:rPr>
              <a:t>업무·운영 관리</a:t>
            </a:r>
          </a:p>
        </p:txBody>
      </p:sp>
      <p:sp>
        <p:nvSpPr>
          <p:cNvPr id="14" name="고객사·프로젝트별 권한, 납기·업무량·실적, 알림, 사용자와 기">
            <a:extLst>
              <a:ext uri="{FF2B5EF4-FFF2-40B4-BE49-F238E27FC236}">
                <a16:creationId xmlns="" xmlns:a16="http://schemas.microsoft.com/office/drawing/2014/main" id="{A11EF0D0-9C99-4E97-8606-2896FE94EC3A}"/>
              </a:ext>
            </a:extLst>
          </p:cNvPr>
          <p:cNvSpPr>
            <a:spLocks noGrp="1"/>
          </p:cNvSpPr>
          <p:nvPr/>
        </p:nvSpPr>
        <p:spPr>
          <a:xfrm>
            <a:off x="3429000" y="5324475"/>
            <a:ext cx="8143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172139"/>
                </a:solidFill>
                <a:latin typeface="Pretendard"/>
                <a:ea typeface="Pretendard"/>
                <a:cs typeface="Pretendard"/>
              </a:rPr>
              <a:t>고객사·프로젝트별 권한, 납기·업무량·실적, 알림, 사용자와 기준 관리</a:t>
            </a:r>
          </a:p>
        </p:txBody>
      </p:sp>
    </p:spTree>
    <p:extLst>
      <p:ext uri="{BB962C8B-B14F-4D97-AF65-F5344CB8AC3E}">
        <p14:creationId xmlns:p14="http://schemas.microsoft.com/office/powerpoint/2010/main" val="38027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05  구현 방향">
            <a:extLst>
              <a:ext uri="{FF2B5EF4-FFF2-40B4-BE49-F238E27FC236}">
                <a16:creationId xmlns="" xmlns:a16="http://schemas.microsoft.com/office/drawing/2014/main" id="{135D6735-CD5C-43DE-89AB-CE0FA509454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00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CECFF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CECFFA"/>
                </a:solidFill>
                <a:latin typeface="Pretendard"/>
                <a:ea typeface="Pretendard"/>
                <a:cs typeface="Pretendard"/>
              </a:rPr>
              <a:t>05  구현 방향</a:t>
            </a:r>
          </a:p>
        </p:txBody>
      </p:sp>
      <p:sp>
        <p:nvSpPr>
          <p:cNvPr id="2" name="개발 범위">
            <a:extLst>
              <a:ext uri="{FF2B5EF4-FFF2-40B4-BE49-F238E27FC236}">
                <a16:creationId xmlns="" xmlns:a16="http://schemas.microsoft.com/office/drawing/2014/main" id="{928519D4-1728-40E2-90C1-598C40270E8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개발 범위</a:t>
            </a:r>
          </a:p>
        </p:txBody>
      </p:sp>
      <p:sp>
        <p:nvSpPr>
          <p:cNvPr id="3" name="TX TMS">
            <a:extLst>
              <a:ext uri="{FF2B5EF4-FFF2-40B4-BE49-F238E27FC236}">
                <a16:creationId xmlns="" xmlns:a16="http://schemas.microsoft.com/office/drawing/2014/main" id="{1F0A78D0-C9C0-48CB-845F-9460107A3D3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125" b="0">
                <a:solidFill>
                  <a:srgbClr val="A5ABC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A5ABC0"/>
                </a:solidFill>
                <a:latin typeface="Pretendard"/>
                <a:ea typeface="Pretendard"/>
                <a:cs typeface="Pretendard"/>
              </a:rPr>
              <a:t>TX TMS</a:t>
            </a:r>
          </a:p>
        </p:txBody>
      </p:sp>
      <p:sp>
        <p:nvSpPr>
          <p:cNvPr id="4" name="06">
            <a:extLst>
              <a:ext uri="{FF2B5EF4-FFF2-40B4-BE49-F238E27FC236}">
                <a16:creationId xmlns="" xmlns:a16="http://schemas.microsoft.com/office/drawing/2014/main" id="{F95B6AF5-F0A3-4FE3-8336-E74F6BFB9F85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A5ABC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A5ABC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1차 개발">
            <a:extLst>
              <a:ext uri="{FF2B5EF4-FFF2-40B4-BE49-F238E27FC236}">
                <a16:creationId xmlns="" xmlns:a16="http://schemas.microsoft.com/office/drawing/2014/main" id="{FAF1FE2F-3E07-41AE-A976-F53E2DC5BBE6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3810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CECFFA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CECFFA"/>
                </a:solidFill>
                <a:latin typeface="Pretendard"/>
                <a:ea typeface="Pretendard"/>
                <a:cs typeface="Pretendard"/>
              </a:rPr>
              <a:t>1차 개발</a:t>
            </a:r>
          </a:p>
        </p:txBody>
      </p:sp>
      <p:sp>
        <p:nvSpPr>
          <p:cNvPr id="6" name="작성부터 완료본 활용까지&#10;전체 핵심 업무 흐름 구현">
            <a:extLst>
              <a:ext uri="{FF2B5EF4-FFF2-40B4-BE49-F238E27FC236}">
                <a16:creationId xmlns="" xmlns:a16="http://schemas.microsoft.com/office/drawing/2014/main" id="{843F15FA-AA92-4678-9338-513C58446251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104775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작성부터 완료본 활용까지</a:t>
            </a:r>
          </a:p>
          <a:p>
            <a:pPr>
              <a:buNone/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핵심 업무 흐름 구현</a:t>
            </a:r>
          </a:p>
        </p:txBody>
      </p:sp>
      <p:sp>
        <p:nvSpPr>
          <p:cNvPr id="7" name="사용자·고객사 관리, 텍스트 교정 실행, 검색·반출을 포함합니다">
            <a:extLst>
              <a:ext uri="{FF2B5EF4-FFF2-40B4-BE49-F238E27FC236}">
                <a16:creationId xmlns="" xmlns:a16="http://schemas.microsoft.com/office/drawing/2014/main" id="{776DC03A-CEA7-491D-9CFD-DA17D6A31AE6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108108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사용자·고객사 관리, 텍스트 교정 실행, 검색·내보내기를 포함합니다.</a:t>
            </a:r>
          </a:p>
          <a:p>
            <a:pPr>
              <a:buNone/>
              <a:defRPr sz="202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솔루션 제공사의 운영 기능에는 고객사 초기 설정과 유형별 교정 기준 연결을 포함합니다.</a:t>
            </a:r>
          </a:p>
        </p:txBody>
      </p:sp>
      <p:sp>
        <p:nvSpPr>
          <p:cNvPr id="8" name="후속 확장">
            <a:extLst>
              <a:ext uri="{FF2B5EF4-FFF2-40B4-BE49-F238E27FC236}">
                <a16:creationId xmlns="" xmlns:a16="http://schemas.microsoft.com/office/drawing/2014/main" id="{E7667010-4282-428E-BF28-D257D3988AF8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1905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CECFFA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CECFFA"/>
                </a:solidFill>
                <a:latin typeface="Pretendard"/>
                <a:ea typeface="Pretendard"/>
                <a:cs typeface="Pretendard"/>
              </a:rPr>
              <a:t>후속 확장</a:t>
            </a:r>
          </a:p>
        </p:txBody>
      </p:sp>
      <p:sp>
        <p:nvSpPr>
          <p:cNvPr id="9" name="기준 배포·복원 등 운영 고도화, SSO, 생성형 AI,&#10;첨부 ">
            <a:extLst>
              <a:ext uri="{FF2B5EF4-FFF2-40B4-BE49-F238E27FC236}">
                <a16:creationId xmlns="" xmlns:a16="http://schemas.microsoft.com/office/drawing/2014/main" id="{8AE064AA-2052-4A2D-9257-B6B1A8C00489}"/>
              </a:ext>
            </a:extLst>
          </p:cNvPr>
          <p:cNvSpPr>
            <a:spLocks noGrp="1"/>
          </p:cNvSpPr>
          <p:nvPr/>
        </p:nvSpPr>
        <p:spPr>
          <a:xfrm>
            <a:off x="2809875" y="5505450"/>
            <a:ext cx="87344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배포·복원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등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운영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고도화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로그인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(SSO),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생성형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AI,</a:t>
            </a:r>
          </a:p>
          <a:p>
            <a:pPr>
              <a:buNone/>
              <a:defRPr sz="1875" b="0">
                <a:solidFill>
                  <a:srgbClr val="C8CFDD"/>
                </a:solidFill>
                <a:latin typeface="Pretendard"/>
                <a:ea typeface="Pretendard"/>
                <a:cs typeface="Pretendard"/>
              </a:defRPr>
            </a:pP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첨부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문자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인식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(OCR),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실시간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dirty="0" err="1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동시</a:t>
            </a:r>
            <a:r>
              <a:rPr sz="1875" b="0" dirty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75" b="0" err="1" smtClean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편집</a:t>
            </a:r>
            <a:r>
              <a:rPr lang="en-US" sz="1875" b="0" smtClean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875" b="0" smtClean="0">
                <a:solidFill>
                  <a:srgbClr val="C8CFDD"/>
                </a:solidFill>
                <a:latin typeface="Pretendard"/>
                <a:ea typeface="Pretendard"/>
                <a:cs typeface="Pretendard"/>
              </a:rPr>
              <a:t>등 예상</a:t>
            </a:r>
            <a:endParaRPr sz="1875" b="0">
              <a:solidFill>
                <a:srgbClr val="C8CFDD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18041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DocSecurity>0</DocSecurity>
  <PresentationFormat>와이드스크린</PresentationFormat>
  <Paragraphs>88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WIRELINK.23.03.A2</cp:lastModifiedBy>
  <cp:revision>8</cp:revision>
  <dcterms:created xsi:type="dcterms:W3CDTF">2026-09-28T09:00:22Z</dcterms:created>
  <dcterms:modified xsi:type="dcterms:W3CDTF">2026-09-30T05:52:54Z</dcterms:modified>
</cp:coreProperties>
</file>